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71" r:id="rId11"/>
    <p:sldId id="268" r:id="rId12"/>
    <p:sldId id="269" r:id="rId13"/>
    <p:sldId id="270" r:id="rId14"/>
    <p:sldId id="281" r:id="rId15"/>
    <p:sldId id="275" r:id="rId19"/>
    <p:sldId id="273" r:id="rId17"/>
    <p:sldId id="272" r:id="rId16"/>
    <p:sldId id="278" r:id="rId22"/>
    <p:sldId id="276" r:id="rId20"/>
    <p:sldId id="277" r:id="rId21"/>
    <p:sldId id="279" r:id="rId23"/>
    <p:sldId id="280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29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442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7.xml"/><Relationship Id="rId17" Type="http://schemas.openxmlformats.org/officeDocument/2006/relationships/slide" Target="slides/slide16.xml"/><Relationship Id="rId19" Type="http://schemas.openxmlformats.org/officeDocument/2006/relationships/slide" Target="slides/slide15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18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47294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7373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clinic-focus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788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진료과목 너머, 병원이 실제로 하는 일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하재원 · 김경재 · 최비성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37360" y="502920"/>
            <a:ext cx="5669280" cy="32004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1828800" y="502920"/>
            <a:ext cx="5486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6C2D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SNL 병원 콩트 캡처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6C2D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(아토피 환자가 “피부 클리닉 전문”이라며 돌려보내지는 장면)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6C2D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표기 · 가능하면 5초 클립 재생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977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“피부과인데 왜 아토피 하나 못 봐요?”</a:t>
            </a:r>
            <a:endParaRPr lang="en-US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진료과목, 전혀 다른 주력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피부과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02920" y="429768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피부 클리닉 (미용)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663440" y="429768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탈모 치료 전문</a:t>
            </a:r>
            <a:endParaRPr lang="en-US" sz="1900" dirty="0"/>
          </a:p>
        </p:txBody>
      </p:sp>
      <p:sp>
        <p:nvSpPr>
          <p:cNvPr id="10" name="Rounded Rectangle 9"/>
          <p:cNvSpPr/>
          <p:nvPr/>
        </p:nvSpPr>
        <p:spPr>
          <a:xfrm>
            <a:off x="502920" y="1417320"/>
            <a:ext cx="3977639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417320"/>
            <a:ext cx="3977639" cy="31089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8" y="1527048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58952" y="1527048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05256" y="1527048"/>
            <a:ext cx="91440" cy="91440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188720" y="1490472"/>
            <a:ext cx="3108959" cy="16459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tIns="0" bIns="0"/>
          <a:lstStyle/>
          <a:p>
            <a:pPr algn="l"/>
            <a:r>
              <a:rPr sz="700">
                <a:solidFill>
                  <a:srgbClr val="94A3B8"/>
                </a:solidFill>
                <a:latin typeface="Malgun Gothic"/>
              </a:rPr>
              <a:t>○○의원.kr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1920240"/>
            <a:ext cx="3611879" cy="2057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1E293B"/>
                </a:solidFill>
                <a:latin typeface="Malgun Gothic"/>
              </a:rPr>
              <a:t>보톡스 · 필러 · 레이저</a:t>
            </a:r>
          </a:p>
          <a:p>
            <a:pPr algn="ctr">
              <a:spcBef>
                <a:spcPts val="1000"/>
              </a:spcBef>
            </a:pPr>
            <a:r>
              <a:rPr sz="950">
                <a:solidFill>
                  <a:srgbClr val="94A3B8"/>
                </a:solidFill>
                <a:latin typeface="Malgun Gothic"/>
              </a:rPr>
              <a:t>리프팅 | 제모 | 이벤트</a:t>
            </a:r>
          </a:p>
          <a:p>
            <a:pPr algn="ctr">
              <a:spcBef>
                <a:spcPts val="1200"/>
              </a:spcBef>
            </a:pPr>
            <a:r>
              <a:rPr sz="1050">
                <a:solidFill>
                  <a:srgbClr val="475569"/>
                </a:solidFill>
                <a:latin typeface="Malgun Gothic"/>
              </a:rPr>
              <a:t>프리미엄 안티에이징 클리닉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63440" y="1417320"/>
            <a:ext cx="3977639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63440" y="1417320"/>
            <a:ext cx="3977639" cy="31089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773168" y="1527048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919472" y="1527048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065776" y="1527048"/>
            <a:ext cx="91440" cy="91440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349240" y="1490472"/>
            <a:ext cx="3108959" cy="16459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tIns="0" bIns="0"/>
          <a:lstStyle/>
          <a:p>
            <a:pPr algn="l"/>
            <a:r>
              <a:rPr sz="700">
                <a:solidFill>
                  <a:srgbClr val="94A3B8"/>
                </a:solidFill>
                <a:latin typeface="Malgun Gothic"/>
              </a:rPr>
              <a:t>○○의원.kr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1920240"/>
            <a:ext cx="3611879" cy="2057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1E293B"/>
                </a:solidFill>
                <a:latin typeface="Malgun Gothic"/>
              </a:rPr>
              <a:t>탈모 · 두피 · 모발이식</a:t>
            </a:r>
          </a:p>
          <a:p>
            <a:pPr algn="ctr">
              <a:spcBef>
                <a:spcPts val="1000"/>
              </a:spcBef>
            </a:pPr>
            <a:r>
              <a:rPr sz="950">
                <a:solidFill>
                  <a:srgbClr val="94A3B8"/>
                </a:solidFill>
                <a:latin typeface="Malgun Gothic"/>
              </a:rPr>
              <a:t>탈모치료 | 두피케어 | 상담</a:t>
            </a:r>
          </a:p>
          <a:p>
            <a:pPr algn="ctr">
              <a:spcBef>
                <a:spcPts val="1200"/>
              </a:spcBef>
            </a:pPr>
            <a:r>
              <a:rPr sz="1050">
                <a:solidFill>
                  <a:srgbClr val="475569"/>
                </a:solidFill>
                <a:latin typeface="Malgun Gothic"/>
              </a:rPr>
              <a:t>탈모 전문 클리닉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진료과목, 전혀 다른 주력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한의원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02920" y="429768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다이어트 전문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663440" y="429768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추나요법 전문</a:t>
            </a:r>
            <a:endParaRPr lang="en-US" sz="1900" dirty="0"/>
          </a:p>
        </p:txBody>
      </p:sp>
      <p:sp>
        <p:nvSpPr>
          <p:cNvPr id="10" name="Rounded Rectangle 9"/>
          <p:cNvSpPr/>
          <p:nvPr/>
        </p:nvSpPr>
        <p:spPr>
          <a:xfrm>
            <a:off x="502920" y="1417320"/>
            <a:ext cx="3977639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417320"/>
            <a:ext cx="3977639" cy="31089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8" y="1527048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58952" y="1527048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05256" y="1527048"/>
            <a:ext cx="91440" cy="91440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188720" y="1490472"/>
            <a:ext cx="3108959" cy="16459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tIns="0" bIns="0"/>
          <a:lstStyle/>
          <a:p>
            <a:pPr algn="l"/>
            <a:r>
              <a:rPr sz="700">
                <a:solidFill>
                  <a:srgbClr val="94A3B8"/>
                </a:solidFill>
                <a:latin typeface="Malgun Gothic"/>
              </a:rPr>
              <a:t>○○의원.kr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1920240"/>
            <a:ext cx="3611879" cy="2057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1E293B"/>
                </a:solidFill>
                <a:latin typeface="Malgun Gothic"/>
              </a:rPr>
              <a:t>한방 다이어트 · 비만</a:t>
            </a:r>
          </a:p>
          <a:p>
            <a:pPr algn="ctr">
              <a:spcBef>
                <a:spcPts val="1000"/>
              </a:spcBef>
            </a:pPr>
            <a:r>
              <a:rPr sz="950">
                <a:solidFill>
                  <a:srgbClr val="94A3B8"/>
                </a:solidFill>
                <a:latin typeface="Malgun Gothic"/>
              </a:rPr>
              <a:t>체형관리 | 한약 | 디톡스</a:t>
            </a:r>
          </a:p>
          <a:p>
            <a:pPr algn="ctr">
              <a:spcBef>
                <a:spcPts val="1200"/>
              </a:spcBef>
            </a:pPr>
            <a:r>
              <a:rPr sz="1050">
                <a:solidFill>
                  <a:srgbClr val="475569"/>
                </a:solidFill>
                <a:latin typeface="Malgun Gothic"/>
              </a:rPr>
              <a:t>다이어트 한의원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63440" y="1417320"/>
            <a:ext cx="3977639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63440" y="1417320"/>
            <a:ext cx="3977639" cy="31089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773168" y="1527048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919472" y="1527048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065776" y="1527048"/>
            <a:ext cx="91440" cy="91440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349240" y="1490472"/>
            <a:ext cx="3108959" cy="16459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tIns="0" bIns="0"/>
          <a:lstStyle/>
          <a:p>
            <a:pPr algn="l"/>
            <a:r>
              <a:rPr sz="700">
                <a:solidFill>
                  <a:srgbClr val="94A3B8"/>
                </a:solidFill>
                <a:latin typeface="Malgun Gothic"/>
              </a:rPr>
              <a:t>○○의원.kr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1920240"/>
            <a:ext cx="3611879" cy="2057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1E293B"/>
                </a:solidFill>
                <a:latin typeface="Malgun Gothic"/>
              </a:rPr>
              <a:t>추나요법 · 척추 · 교통사고</a:t>
            </a:r>
          </a:p>
          <a:p>
            <a:pPr algn="ctr">
              <a:spcBef>
                <a:spcPts val="1000"/>
              </a:spcBef>
            </a:pPr>
            <a:r>
              <a:rPr sz="950">
                <a:solidFill>
                  <a:srgbClr val="94A3B8"/>
                </a:solidFill>
                <a:latin typeface="Malgun Gothic"/>
              </a:rPr>
              <a:t>추나 | 도수 | 한방물리치료</a:t>
            </a:r>
          </a:p>
          <a:p>
            <a:pPr algn="ctr">
              <a:spcBef>
                <a:spcPts val="1200"/>
              </a:spcBef>
            </a:pPr>
            <a:r>
              <a:rPr sz="1050">
                <a:solidFill>
                  <a:srgbClr val="475569"/>
                </a:solidFill>
                <a:latin typeface="Malgun Gothic"/>
              </a:rPr>
              <a:t>통증·재활 한의원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진료과목, 전혀 다른 주력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치과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02920" y="429768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교정 전문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663440" y="429768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구강성형 전문</a:t>
            </a:r>
            <a:endParaRPr lang="en-US" sz="1900" dirty="0"/>
          </a:p>
        </p:txBody>
      </p:sp>
      <p:sp>
        <p:nvSpPr>
          <p:cNvPr id="10" name="Rounded Rectangle 9"/>
          <p:cNvSpPr/>
          <p:nvPr/>
        </p:nvSpPr>
        <p:spPr>
          <a:xfrm>
            <a:off x="502920" y="1417320"/>
            <a:ext cx="3977639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417320"/>
            <a:ext cx="3977639" cy="31089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8" y="1527048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58952" y="1527048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05256" y="1527048"/>
            <a:ext cx="91440" cy="91440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188720" y="1490472"/>
            <a:ext cx="3108959" cy="16459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tIns="0" bIns="0"/>
          <a:lstStyle/>
          <a:p>
            <a:pPr algn="l"/>
            <a:r>
              <a:rPr sz="700">
                <a:solidFill>
                  <a:srgbClr val="94A3B8"/>
                </a:solidFill>
                <a:latin typeface="Malgun Gothic"/>
              </a:rPr>
              <a:t>○○의원.kr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1920240"/>
            <a:ext cx="3611879" cy="2057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1E293B"/>
                </a:solidFill>
                <a:latin typeface="Malgun Gothic"/>
              </a:rPr>
              <a:t>치아교정 · 투명교정</a:t>
            </a:r>
          </a:p>
          <a:p>
            <a:pPr algn="ctr">
              <a:spcBef>
                <a:spcPts val="1000"/>
              </a:spcBef>
            </a:pPr>
            <a:r>
              <a:rPr sz="950">
                <a:solidFill>
                  <a:srgbClr val="94A3B8"/>
                </a:solidFill>
                <a:latin typeface="Malgun Gothic"/>
              </a:rPr>
              <a:t>교정 | 인비절라인 | 소아교정</a:t>
            </a:r>
          </a:p>
          <a:p>
            <a:pPr algn="ctr">
              <a:spcBef>
                <a:spcPts val="1200"/>
              </a:spcBef>
            </a:pPr>
            <a:r>
              <a:rPr sz="1050">
                <a:solidFill>
                  <a:srgbClr val="475569"/>
                </a:solidFill>
                <a:latin typeface="Malgun Gothic"/>
              </a:rPr>
              <a:t>교정 전문 치과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63440" y="1417320"/>
            <a:ext cx="3977639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63440" y="1417320"/>
            <a:ext cx="3977639" cy="31089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773168" y="1527048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919472" y="1527048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065776" y="1527048"/>
            <a:ext cx="91440" cy="91440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349240" y="1490472"/>
            <a:ext cx="3108959" cy="16459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tIns="0" bIns="0"/>
          <a:lstStyle/>
          <a:p>
            <a:pPr algn="l"/>
            <a:r>
              <a:rPr sz="700">
                <a:solidFill>
                  <a:srgbClr val="94A3B8"/>
                </a:solidFill>
                <a:latin typeface="Malgun Gothic"/>
              </a:rPr>
              <a:t>○○의원.kr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1920240"/>
            <a:ext cx="3611879" cy="2057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1E293B"/>
                </a:solidFill>
                <a:latin typeface="Malgun Gothic"/>
              </a:rPr>
              <a:t>양악 · 턱교정 · 윤곽</a:t>
            </a:r>
          </a:p>
          <a:p>
            <a:pPr algn="ctr">
              <a:spcBef>
                <a:spcPts val="1000"/>
              </a:spcBef>
            </a:pPr>
            <a:r>
              <a:rPr sz="950">
                <a:solidFill>
                  <a:srgbClr val="94A3B8"/>
                </a:solidFill>
                <a:latin typeface="Malgun Gothic"/>
              </a:rPr>
              <a:t>양악수술 | 사랑니 | 구강외과</a:t>
            </a:r>
          </a:p>
          <a:p>
            <a:pPr algn="ctr">
              <a:spcBef>
                <a:spcPts val="1200"/>
              </a:spcBef>
            </a:pPr>
            <a:r>
              <a:rPr sz="1050">
                <a:solidFill>
                  <a:srgbClr val="475569"/>
                </a:solidFill>
                <a:latin typeface="Malgun Gothic"/>
              </a:rPr>
              <a:t>구강악안면외과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71750"/>
            <a:ext cx="8229600" cy="1938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28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유전적 탈모로 예방을 위해</a:t>
            </a:r>
            <a:endParaRPr lang="en-US" sz="28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2800" b="1" dirty="0" err="1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병원을</a:t>
            </a:r>
            <a:r>
              <a:rPr lang="en-US" sz="28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28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내원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17320"/>
            <a:ext cx="82296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“탈모는 예방이 아니라 치료로 와야 하는 거라,</a:t>
            </a:r>
            <a:endParaRPr lang="en-US" sz="24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예방이 목적이면 약국 가세요”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5</a:t>
            </a:r>
            <a:r>
              <a:rPr lang="ko-KR" altLang="en-US" sz="15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</a:t>
            </a:r>
            <a:r>
              <a:rPr lang="en-US" altLang="ko-KR" sz="15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r>
              <a:rPr lang="ko-KR" altLang="en-US" sz="15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</a:t>
            </a:r>
            <a:r>
              <a:rPr lang="en-US" altLang="ko-KR" sz="15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</a:t>
            </a:r>
            <a:r>
              <a:rPr lang="en-US" sz="15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동네 피부과에서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43000"/>
            <a:ext cx="57607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그렇게 약국에서 받은 판시딜은</a:t>
            </a:r>
            <a:endParaRPr lang="en-US" sz="24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원형 탈모용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5760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탈모는 예방·유지관리만 가능하고 치료제는 아직 없습니다.</a:t>
            </a:r>
            <a:endParaRPr lang="en-US" sz="14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저는 남성호르몬 억제 약을 ‘처방’받아야 했습니다.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583680" y="1280160"/>
            <a:ext cx="2103120" cy="26517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675120" y="1280160"/>
            <a:ext cx="19202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6C2D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판시딜 제품 사진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6C2D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(약국 패키지)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98053"/>
            <a:ext cx="8229600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이런 일이 생길까요?</a:t>
            </a:r>
            <a:endParaRPr lang="en-US" sz="2400" dirty="0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CA17EF41-1591-A2A8-D67F-9070F868748F}"/>
              </a:ext>
            </a:extLst>
          </p:cNvPr>
          <p:cNvSpPr/>
          <p:nvPr/>
        </p:nvSpPr>
        <p:spPr>
          <a:xfrm>
            <a:off x="457200" y="257175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2800" b="1" dirty="0" err="1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</a:t>
            </a:r>
            <a:r>
              <a:rPr lang="en-US" sz="28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800" b="1" dirty="0" err="1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진료과목은</a:t>
            </a:r>
            <a:r>
              <a:rPr lang="en-US" sz="28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28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해당 병원의</a:t>
            </a:r>
            <a:endParaRPr lang="en-US" altLang="ko-KR" sz="2800" b="1" dirty="0">
              <a:solidFill>
                <a:srgbClr val="1E293B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ctr">
              <a:lnSpc>
                <a:spcPct val="125000"/>
              </a:lnSpc>
              <a:buNone/>
            </a:pPr>
            <a:r>
              <a:rPr lang="en-US" sz="2800" b="1" dirty="0" err="1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</a:t>
            </a:r>
            <a:r>
              <a:rPr lang="en-US" sz="28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주력</a:t>
            </a:r>
            <a:r>
              <a:rPr lang="en-US" sz="28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알려주지 않습니다</a:t>
            </a:r>
            <a:endParaRPr lang="en-US" sz="2800" dirty="0"/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F451A08E-2204-EB01-6E11-1972AE688776}"/>
              </a:ext>
            </a:extLst>
          </p:cNvPr>
          <p:cNvCxnSpPr>
            <a:cxnSpLocks/>
          </p:cNvCxnSpPr>
          <p:nvPr/>
        </p:nvCxnSpPr>
        <p:spPr>
          <a:xfrm>
            <a:off x="4572000" y="1821003"/>
            <a:ext cx="0" cy="106756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</a:t>
            </a:r>
            <a:r>
              <a:rPr lang="ko-KR" altLang="en-US" sz="27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근처 탈모를 많이 본</a:t>
            </a:r>
            <a:r>
              <a:rPr lang="en-US" sz="27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700" b="1" dirty="0" err="1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병원</a:t>
            </a:r>
            <a:r>
              <a:rPr lang="en-US" sz="27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”</a:t>
            </a:r>
          </a:p>
          <a:p>
            <a:pPr marL="0" indent="0" algn="ctr">
              <a:buNone/>
            </a:pPr>
            <a:r>
              <a:rPr lang="en-US" sz="27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700" b="1" dirty="0" err="1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</a:t>
            </a:r>
            <a:r>
              <a:rPr lang="en-US" sz="27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27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찾을까</a:t>
            </a:r>
            <a:r>
              <a:rPr lang="en-US" sz="27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요?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11480" y="1691640"/>
            <a:ext cx="1417320" cy="77724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11480" y="1691640"/>
            <a:ext cx="1417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 앱 검색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810512" y="182880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130552" y="1691640"/>
            <a:ext cx="1417320" cy="77724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2130552" y="1691640"/>
            <a:ext cx="1417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병원 클릭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529584" y="182880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849624" y="1691640"/>
            <a:ext cx="1417320" cy="77724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3849624" y="1691640"/>
            <a:ext cx="1417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12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병원 정보</a:t>
            </a:r>
            <a:r>
              <a:rPr lang="en-US" sz="12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확인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248656" y="182880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568696" y="1691640"/>
            <a:ext cx="1417320" cy="77724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568696" y="1691640"/>
            <a:ext cx="1417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후기 읽기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967728" y="182880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287768" y="1691640"/>
            <a:ext cx="1417320" cy="77724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7287768" y="1691640"/>
            <a:ext cx="1417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뒤로 가기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2697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…그리고 다음 병원에서 또 반복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7200" y="31089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× 10곳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475488" y="3926059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이래서, </a:t>
            </a:r>
            <a:r>
              <a:rPr lang="ko-KR" altLang="en-US" sz="2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그냥 표준 진료과목만 보고</a:t>
            </a:r>
            <a:r>
              <a:rPr lang="en-US" sz="2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2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내원합니다</a:t>
            </a:r>
            <a:r>
              <a:rPr lang="en-US" altLang="ko-KR" sz="2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7335" y="77724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굿닥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807655" y="77724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ko-KR" altLang="en-US" sz="2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일반적인 병원 검색</a:t>
            </a:r>
            <a:endParaRPr lang="en-US" altLang="ko-KR" sz="2100" dirty="0">
              <a:solidFill>
                <a:srgbClr val="94A3B8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247335" y="164592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모두닥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807655" y="164592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ko-KR" altLang="en-US" sz="2100" dirty="0" err="1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비보험</a:t>
            </a:r>
            <a:r>
              <a:rPr lang="ko-KR" altLang="en-US" sz="2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진료 </a:t>
            </a:r>
            <a:r>
              <a:rPr lang="en-US" sz="2100" dirty="0" err="1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가격</a:t>
            </a:r>
            <a:r>
              <a:rPr lang="en-US" sz="2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100" dirty="0" err="1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</a:t>
            </a:r>
            <a:r>
              <a:rPr lang="ko-KR" altLang="en-US" sz="2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</a:t>
            </a:r>
            <a:r>
              <a:rPr lang="en-US" sz="2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2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247335" y="251460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어디아파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807655" y="251460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ko-KR" altLang="en-US" sz="2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제휴 병원 </a:t>
            </a:r>
            <a:r>
              <a:rPr lang="ko-KR" altLang="en-US" sz="2100" dirty="0" err="1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비대면</a:t>
            </a:r>
            <a:r>
              <a:rPr lang="ko-KR" altLang="en-US" sz="2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문진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457200" y="3691012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</a:t>
            </a:r>
            <a:r>
              <a:rPr lang="en-US" sz="2800" b="1" dirty="0" err="1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</a:t>
            </a:r>
            <a:r>
              <a:rPr lang="en-US" sz="28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800" b="1" dirty="0" err="1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주력”은</a:t>
            </a:r>
            <a:r>
              <a:rPr lang="en-US" sz="28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8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아무도 알려주지 않습니다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05905"/>
            <a:ext cx="8229600" cy="9236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2000" b="1" dirty="0" err="1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병원</a:t>
            </a:r>
            <a:r>
              <a:rPr lang="ko-KR" altLang="en-US" sz="20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</a:t>
            </a:r>
            <a:r>
              <a:rPr lang="en-US" sz="20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000" b="1" dirty="0" err="1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</a:t>
            </a:r>
            <a:r>
              <a:rPr lang="en-US" sz="20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000" b="1" dirty="0" err="1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인터넷에</a:t>
            </a:r>
            <a:r>
              <a:rPr lang="ko-KR" altLang="en-US" sz="20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</a:t>
            </a:r>
            <a:endParaRPr lang="en-US" sz="20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자기가 </a:t>
            </a:r>
            <a:r>
              <a:rPr lang="en-US" sz="2000" b="1" dirty="0" err="1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누군지</a:t>
            </a:r>
            <a:r>
              <a:rPr lang="en-US" sz="20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00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</a:t>
            </a:r>
            <a:r>
              <a:rPr lang="ko-KR" altLang="en-US" sz="200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하고 있는 </a:t>
            </a:r>
            <a:r>
              <a:rPr lang="en-US" altLang="ko-KR" sz="200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r>
              <a:rPr lang="ko-KR" altLang="en-US" sz="200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가지 신호</a:t>
            </a:r>
            <a:endParaRPr lang="en-US" sz="2000" dirty="0"/>
          </a:p>
        </p:txBody>
      </p:sp>
      <p:sp>
        <p:nvSpPr>
          <p:cNvPr id="3" name="Rounded Rectangle 2"/>
          <p:cNvSpPr/>
          <p:nvPr/>
        </p:nvSpPr>
        <p:spPr>
          <a:xfrm>
            <a:off x="502920" y="2011680"/>
            <a:ext cx="1801368" cy="141732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00" b="1">
                <a:solidFill>
                  <a:srgbClr val="0D9488"/>
                </a:solidFill>
                <a:latin typeface="Malgun Gothic"/>
              </a:rPr>
              <a:t>홈페이지</a:t>
            </a:r>
          </a:p>
          <a:p>
            <a:pPr algn="ctr">
              <a:spcBef>
                <a:spcPts val="400"/>
              </a:spcBef>
            </a:pPr>
            <a:r>
              <a:rPr sz="950">
                <a:solidFill>
                  <a:srgbClr val="475569"/>
                </a:solidFill>
                <a:latin typeface="Malgun Gothic"/>
              </a:rPr>
              <a:t>메인에 ‘눈성형 중심’ 명시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615184" y="2011680"/>
            <a:ext cx="1801368" cy="141732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00" b="1">
                <a:solidFill>
                  <a:srgbClr val="7C3AED"/>
                </a:solidFill>
                <a:latin typeface="Malgun Gothic"/>
              </a:rPr>
              <a:t>사진(시각 정보)</a:t>
            </a:r>
          </a:p>
          <a:p>
            <a:pPr algn="ctr">
              <a:spcBef>
                <a:spcPts val="400"/>
              </a:spcBef>
            </a:pPr>
            <a:r>
              <a:rPr sz="950">
                <a:solidFill>
                  <a:srgbClr val="475569"/>
                </a:solidFill>
                <a:latin typeface="Malgun Gothic"/>
              </a:rPr>
              <a:t>써마지·라식 장비 식별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27448" y="2011680"/>
            <a:ext cx="1801368" cy="14173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00" b="1">
                <a:solidFill>
                  <a:srgbClr val="B45309"/>
                </a:solidFill>
                <a:latin typeface="Malgun Gothic"/>
              </a:rPr>
              <a:t>블로그 리뷰</a:t>
            </a:r>
          </a:p>
          <a:p>
            <a:pPr algn="ctr">
              <a:spcBef>
                <a:spcPts val="400"/>
              </a:spcBef>
            </a:pPr>
            <a:r>
              <a:rPr sz="950">
                <a:solidFill>
                  <a:srgbClr val="475569"/>
                </a:solidFill>
                <a:latin typeface="Malgun Gothic"/>
              </a:rPr>
              <a:t>주제 빈도 — 탈모 34%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39712" y="2011680"/>
            <a:ext cx="1801368" cy="14173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00" b="1">
                <a:solidFill>
                  <a:srgbClr val="2563EB"/>
                </a:solidFill>
                <a:latin typeface="Malgun Gothic"/>
              </a:rPr>
              <a:t>플레이스 리뷰</a:t>
            </a:r>
          </a:p>
          <a:p>
            <a:pPr algn="ctr">
              <a:spcBef>
                <a:spcPts val="400"/>
              </a:spcBef>
            </a:pPr>
            <a:r>
              <a:rPr sz="950">
                <a:solidFill>
                  <a:srgbClr val="475569"/>
                </a:solidFill>
                <a:latin typeface="Malgun Gothic"/>
              </a:rPr>
              <a:t>키워드 — 친절·꼼꼼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77240"/>
            <a:ext cx="2377440" cy="73152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 err="1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홈페이지</a:t>
            </a:r>
            <a:r>
              <a:rPr lang="en-US" sz="15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5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내용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200400" y="886968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1737360"/>
            <a:ext cx="2377440" cy="73152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15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홈페이지 </a:t>
            </a:r>
            <a:r>
              <a:rPr lang="en-US" sz="1500" b="1" dirty="0" err="1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200400" y="1847088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31520" y="2697480"/>
            <a:ext cx="2377440" cy="73152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731520" y="26974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 err="1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블로그</a:t>
            </a:r>
            <a:r>
              <a:rPr lang="en-US" sz="15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5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리뷰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200400" y="2807208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31520" y="3657600"/>
            <a:ext cx="2377440" cy="73152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731520" y="36576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1500" b="1" dirty="0" err="1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플레이스</a:t>
            </a:r>
            <a:r>
              <a:rPr lang="ko-KR" altLang="en-US" sz="15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리뷰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200400" y="3767328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3938954" y="777240"/>
            <a:ext cx="1697501" cy="36118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3794760" y="1691640"/>
            <a:ext cx="20116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교차 검증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5897880" y="228600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400800" y="1691640"/>
            <a:ext cx="22860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250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주력</a:t>
            </a:r>
            <a:endParaRPr lang="en-US" sz="25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25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신뢰도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457200" y="4526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시그널은 속일 수 있어도, 네 개가 같은 방향이면 믿을 수 있다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60878"/>
            <a:ext cx="8229600" cy="3949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lang="ko-KR" altLang="en-US" sz="2400" b="1" dirty="0">
                <a:solidFill>
                  <a:srgbClr val="1E293B"/>
                </a:solidFill>
                <a:latin typeface="Malgun Gothic"/>
              </a:rPr>
              <a:t>사용자의 </a:t>
            </a:r>
            <a:r>
              <a:rPr sz="2400" b="1" dirty="0" err="1">
                <a:solidFill>
                  <a:srgbClr val="1E293B"/>
                </a:solidFill>
                <a:latin typeface="Malgun Gothic"/>
              </a:rPr>
              <a:t>검색</a:t>
            </a:r>
            <a:r>
              <a:rPr sz="2400" b="1" dirty="0">
                <a:solidFill>
                  <a:srgbClr val="1E293B"/>
                </a:solidFill>
                <a:latin typeface="Malgun Gothic"/>
              </a:rPr>
              <a:t> 전, </a:t>
            </a:r>
            <a:r>
              <a:rPr sz="2400" b="1" dirty="0" err="1">
                <a:solidFill>
                  <a:srgbClr val="1E293B"/>
                </a:solidFill>
                <a:latin typeface="Malgun Gothic"/>
              </a:rPr>
              <a:t>데이터</a:t>
            </a:r>
            <a:r>
              <a:rPr lang="en-US" sz="2400" b="1" dirty="0">
                <a:solidFill>
                  <a:srgbClr val="1E293B"/>
                </a:solidFill>
                <a:latin typeface="Malgun Gothic"/>
              </a:rPr>
              <a:t> </a:t>
            </a:r>
            <a:r>
              <a:rPr lang="ko-KR" altLang="en-US" sz="2400" b="1" dirty="0">
                <a:solidFill>
                  <a:srgbClr val="1E293B"/>
                </a:solidFill>
                <a:latin typeface="Malgun Gothic"/>
              </a:rPr>
              <a:t>준비</a:t>
            </a:r>
            <a:endParaRPr sz="2400" b="1" dirty="0">
              <a:solidFill>
                <a:srgbClr val="1E293B"/>
              </a:solidFill>
              <a:latin typeface="Malgun Gothic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1039292"/>
            <a:ext cx="8229600" cy="225703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300" b="0" dirty="0" err="1">
                <a:solidFill>
                  <a:srgbClr val="94A3B8"/>
                </a:solidFill>
                <a:latin typeface="Malgun Gothic"/>
              </a:rPr>
              <a:t>비싼</a:t>
            </a:r>
            <a:r>
              <a:rPr sz="1300" b="0" dirty="0">
                <a:solidFill>
                  <a:srgbClr val="94A3B8"/>
                </a:solidFill>
                <a:latin typeface="Malgun Gothic"/>
              </a:rPr>
              <a:t> LLM</a:t>
            </a:r>
            <a:r>
              <a:rPr lang="en-US" sz="1300" b="0" dirty="0">
                <a:solidFill>
                  <a:srgbClr val="94A3B8"/>
                </a:solidFill>
                <a:latin typeface="Malgun Gothic"/>
              </a:rPr>
              <a:t> / </a:t>
            </a:r>
            <a:r>
              <a:rPr sz="1300" b="0" dirty="0">
                <a:solidFill>
                  <a:srgbClr val="94A3B8"/>
                </a:solidFill>
                <a:latin typeface="Malgun Gothic"/>
              </a:rPr>
              <a:t>Vision 은 </a:t>
            </a:r>
            <a:r>
              <a:rPr sz="1300" b="0" dirty="0" err="1">
                <a:solidFill>
                  <a:srgbClr val="94A3B8"/>
                </a:solidFill>
                <a:latin typeface="Malgun Gothic"/>
              </a:rPr>
              <a:t>사전</a:t>
            </a:r>
            <a:r>
              <a:rPr sz="1300" b="0" dirty="0">
                <a:solidFill>
                  <a:srgbClr val="94A3B8"/>
                </a:solidFill>
                <a:latin typeface="Malgun Gothic"/>
              </a:rPr>
              <a:t> 1회 — </a:t>
            </a:r>
            <a:r>
              <a:rPr sz="1300" b="0" dirty="0" err="1">
                <a:solidFill>
                  <a:srgbClr val="94A3B8"/>
                </a:solidFill>
                <a:latin typeface="Malgun Gothic"/>
              </a:rPr>
              <a:t>검색</a:t>
            </a:r>
            <a:r>
              <a:rPr sz="1300" b="0" dirty="0">
                <a:solidFill>
                  <a:srgbClr val="94A3B8"/>
                </a:solidFill>
                <a:latin typeface="Malgun Gothic"/>
              </a:rPr>
              <a:t> </a:t>
            </a:r>
            <a:r>
              <a:rPr sz="1300" b="0" dirty="0" err="1">
                <a:solidFill>
                  <a:srgbClr val="94A3B8"/>
                </a:solidFill>
                <a:latin typeface="Malgun Gothic"/>
              </a:rPr>
              <a:t>시점엔</a:t>
            </a:r>
            <a:r>
              <a:rPr sz="1300" b="0" dirty="0">
                <a:solidFill>
                  <a:srgbClr val="94A3B8"/>
                </a:solidFill>
                <a:latin typeface="Malgun Gothic"/>
              </a:rPr>
              <a:t> </a:t>
            </a:r>
            <a:r>
              <a:rPr sz="1300" b="0" dirty="0" err="1">
                <a:solidFill>
                  <a:srgbClr val="94A3B8"/>
                </a:solidFill>
                <a:latin typeface="Malgun Gothic"/>
              </a:rPr>
              <a:t>정적</a:t>
            </a:r>
            <a:r>
              <a:rPr sz="1300" b="0" dirty="0">
                <a:solidFill>
                  <a:srgbClr val="94A3B8"/>
                </a:solidFill>
                <a:latin typeface="Malgun Gothic"/>
              </a:rPr>
              <a:t> </a:t>
            </a:r>
            <a:r>
              <a:rPr sz="1300" b="0" dirty="0" err="1">
                <a:solidFill>
                  <a:srgbClr val="94A3B8"/>
                </a:solidFill>
                <a:latin typeface="Malgun Gothic"/>
              </a:rPr>
              <a:t>데이터만</a:t>
            </a:r>
            <a:r>
              <a:rPr sz="1300" b="0" dirty="0">
                <a:solidFill>
                  <a:srgbClr val="94A3B8"/>
                </a:solidFill>
                <a:latin typeface="Malgun Gothic"/>
              </a:rPr>
              <a:t> 읽</a:t>
            </a:r>
            <a:r>
              <a:rPr lang="ko-KR" altLang="en-US" sz="1300" b="0" dirty="0">
                <a:solidFill>
                  <a:srgbClr val="94A3B8"/>
                </a:solidFill>
                <a:latin typeface="Malgun Gothic"/>
              </a:rPr>
              <a:t>기</a:t>
            </a:r>
            <a:endParaRPr sz="1300" b="0" dirty="0">
              <a:solidFill>
                <a:srgbClr val="94A3B8"/>
              </a:solidFill>
              <a:latin typeface="Malgun Gothic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11480" y="1691640"/>
            <a:ext cx="1417320" cy="109728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1150" b="1">
                <a:solidFill>
                  <a:srgbClr val="1E293B"/>
                </a:solidFill>
                <a:latin typeface="Malgun Gothic"/>
              </a:rPr>
              <a:t>크롤링</a:t>
            </a:r>
          </a:p>
          <a:p>
            <a:pPr algn="ctr"/>
            <a:r>
              <a:rPr sz="850">
                <a:solidFill>
                  <a:srgbClr val="94A3B8"/>
                </a:solidFill>
                <a:latin typeface="Malgun Gothic"/>
              </a:rPr>
              <a:t>사이트·카카오</a:t>
            </a:r>
          </a:p>
          <a:p>
            <a:pPr algn="ctr"/>
            <a:r>
              <a:rPr sz="850">
                <a:solidFill>
                  <a:srgbClr val="94A3B8"/>
                </a:solidFill>
                <a:latin typeface="Malgun Gothic"/>
              </a:rPr>
              <a:t>·심평원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30552" y="1691640"/>
            <a:ext cx="1417320" cy="109728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1150" b="1">
                <a:solidFill>
                  <a:srgbClr val="1E293B"/>
                </a:solidFill>
                <a:latin typeface="Malgun Gothic"/>
              </a:rPr>
              <a:t>정제·저자분리</a:t>
            </a:r>
          </a:p>
          <a:p>
            <a:pPr algn="ctr"/>
            <a:r>
              <a:rPr sz="850">
                <a:solidFill>
                  <a:srgbClr val="94A3B8"/>
                </a:solidFill>
                <a:latin typeface="Malgun Gothic"/>
              </a:rPr>
              <a:t>노이즈 56%↓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9624" y="1691640"/>
            <a:ext cx="1417320" cy="109728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1150" b="1">
                <a:solidFill>
                  <a:srgbClr val="1E293B"/>
                </a:solidFill>
                <a:latin typeface="Malgun Gothic"/>
              </a:rPr>
              <a:t>룰 분류 (전수)</a:t>
            </a:r>
          </a:p>
          <a:p>
            <a:pPr algn="ctr"/>
            <a:r>
              <a:rPr sz="850">
                <a:solidFill>
                  <a:srgbClr val="94A3B8"/>
                </a:solidFill>
                <a:latin typeface="Malgun Gothic"/>
              </a:rPr>
              <a:t>4시그널</a:t>
            </a:r>
          </a:p>
          <a:p>
            <a:pPr algn="ctr"/>
            <a:r>
              <a:rPr sz="850">
                <a:solidFill>
                  <a:srgbClr val="94A3B8"/>
                </a:solidFill>
                <a:latin typeface="Malgun Gothic"/>
              </a:rPr>
              <a:t>교차검증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68696" y="1691640"/>
            <a:ext cx="1417320" cy="109728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1150" b="1">
                <a:solidFill>
                  <a:srgbClr val="1E293B"/>
                </a:solidFill>
                <a:latin typeface="Malgun Gothic"/>
              </a:rPr>
              <a:t>임베딩·KB</a:t>
            </a:r>
          </a:p>
          <a:p>
            <a:pPr algn="ctr"/>
            <a:r>
              <a:rPr sz="850">
                <a:solidFill>
                  <a:srgbClr val="94A3B8"/>
                </a:solidFill>
                <a:latin typeface="Malgun Gothic"/>
              </a:rPr>
              <a:t>Titan v2</a:t>
            </a:r>
          </a:p>
          <a:p>
            <a:pPr algn="ctr"/>
            <a:r>
              <a:rPr sz="850">
                <a:solidFill>
                  <a:srgbClr val="94A3B8"/>
                </a:solidFill>
                <a:latin typeface="Malgun Gothic"/>
              </a:rPr>
              <a:t>1024차원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87768" y="1691640"/>
            <a:ext cx="1417320" cy="109728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1150" b="1" dirty="0" err="1">
                <a:solidFill>
                  <a:srgbClr val="FFFFFF"/>
                </a:solidFill>
                <a:latin typeface="Malgun Gothic"/>
              </a:rPr>
              <a:t>검색</a:t>
            </a:r>
            <a:r>
              <a:rPr sz="1150" b="1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1150" b="1" dirty="0" err="1">
                <a:solidFill>
                  <a:srgbClr val="FFFFFF"/>
                </a:solidFill>
                <a:latin typeface="Malgun Gothic"/>
              </a:rPr>
              <a:t>준비</a:t>
            </a:r>
            <a:r>
              <a:rPr lang="en-US" sz="1150" b="1" dirty="0">
                <a:solidFill>
                  <a:srgbClr val="FFFFFF"/>
                </a:solidFill>
                <a:latin typeface="Malgun Gothic"/>
              </a:rPr>
              <a:t> </a:t>
            </a:r>
            <a:r>
              <a:rPr lang="ko-KR" altLang="en-US" sz="1150" b="1" dirty="0">
                <a:solidFill>
                  <a:srgbClr val="FFFFFF"/>
                </a:solidFill>
                <a:latin typeface="Malgun Gothic"/>
              </a:rPr>
              <a:t>완료</a:t>
            </a:r>
            <a:endParaRPr sz="1150" b="1" dirty="0">
              <a:solidFill>
                <a:srgbClr val="FFFFFF"/>
              </a:solidFill>
              <a:latin typeface="Malgun Gothic"/>
            </a:endParaRPr>
          </a:p>
          <a:p>
            <a:pPr algn="ctr"/>
            <a:r>
              <a:rPr sz="850" dirty="0" err="1">
                <a:solidFill>
                  <a:srgbClr val="CCFBF1"/>
                </a:solidFill>
                <a:latin typeface="Malgun Gothic"/>
              </a:rPr>
              <a:t>주력</a:t>
            </a:r>
            <a:r>
              <a:rPr sz="850" dirty="0">
                <a:solidFill>
                  <a:srgbClr val="CCFBF1"/>
                </a:solidFill>
                <a:latin typeface="Malgun Gothic"/>
              </a:rPr>
              <a:t> </a:t>
            </a:r>
            <a:r>
              <a:rPr sz="850" dirty="0" err="1">
                <a:solidFill>
                  <a:srgbClr val="CCFBF1"/>
                </a:solidFill>
                <a:latin typeface="Malgun Gothic"/>
              </a:rPr>
              <a:t>강도</a:t>
            </a:r>
            <a:endParaRPr sz="850" dirty="0">
              <a:solidFill>
                <a:srgbClr val="CCFBF1"/>
              </a:solidFill>
              <a:latin typeface="Malgun Gothic"/>
            </a:endParaRPr>
          </a:p>
          <a:p>
            <a:pPr algn="ctr"/>
            <a:r>
              <a:rPr sz="850" dirty="0" err="1">
                <a:solidFill>
                  <a:srgbClr val="CCFBF1"/>
                </a:solidFill>
                <a:latin typeface="Malgun Gothic"/>
              </a:rPr>
              <a:t>랭킹</a:t>
            </a:r>
            <a:endParaRPr sz="850" dirty="0">
              <a:solidFill>
                <a:srgbClr val="CCFBF1"/>
              </a:solidFill>
              <a:latin typeface="Malgun Gothic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810512" y="1993392"/>
            <a:ext cx="320040" cy="5029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800" b="0">
                <a:solidFill>
                  <a:srgbClr val="94A3B8"/>
                </a:solidFill>
                <a:latin typeface="Malgun Gothic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9584" y="1993392"/>
            <a:ext cx="320040" cy="5029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800" b="0">
                <a:solidFill>
                  <a:srgbClr val="94A3B8"/>
                </a:solidFill>
                <a:latin typeface="Malgun Gothic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48656" y="1993392"/>
            <a:ext cx="320040" cy="5029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800" b="0">
                <a:solidFill>
                  <a:srgbClr val="94A3B8"/>
                </a:solidFill>
                <a:latin typeface="Malgun Gothic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67728" y="1993392"/>
            <a:ext cx="320040" cy="5029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800" b="0">
                <a:solidFill>
                  <a:srgbClr val="94A3B8"/>
                </a:solidFill>
                <a:latin typeface="Malgun Gothic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93692" y="2770632"/>
            <a:ext cx="365760" cy="4114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600" b="0">
                <a:solidFill>
                  <a:srgbClr val="0D9488"/>
                </a:solidFill>
                <a:latin typeface="Malgun Gothic"/>
              </a:rPr>
              <a:t>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12463" y="2999232"/>
            <a:ext cx="1691640" cy="777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1050" b="1" dirty="0" err="1">
                <a:solidFill>
                  <a:srgbClr val="0D9488"/>
                </a:solidFill>
                <a:latin typeface="Malgun Gothic"/>
              </a:rPr>
              <a:t>LLM·Vision</a:t>
            </a:r>
            <a:r>
              <a:rPr sz="1050" b="1" dirty="0">
                <a:solidFill>
                  <a:srgbClr val="0D9488"/>
                </a:solidFill>
                <a:latin typeface="Malgun Gothic"/>
              </a:rPr>
              <a:t> (</a:t>
            </a:r>
            <a:r>
              <a:rPr sz="1050" b="1" dirty="0" err="1">
                <a:solidFill>
                  <a:srgbClr val="0D9488"/>
                </a:solidFill>
                <a:latin typeface="Malgun Gothic"/>
              </a:rPr>
              <a:t>시연</a:t>
            </a:r>
            <a:r>
              <a:rPr sz="1050" b="1" dirty="0">
                <a:solidFill>
                  <a:srgbClr val="0D9488"/>
                </a:solidFill>
                <a:latin typeface="Malgun Gothic"/>
              </a:rPr>
              <a:t> </a:t>
            </a:r>
            <a:r>
              <a:rPr lang="en-US" sz="1050" b="1" dirty="0">
                <a:solidFill>
                  <a:srgbClr val="0D9488"/>
                </a:solidFill>
                <a:latin typeface="Malgun Gothic"/>
              </a:rPr>
              <a:t>50</a:t>
            </a:r>
            <a:r>
              <a:rPr sz="1050" b="1" dirty="0">
                <a:solidFill>
                  <a:srgbClr val="0D9488"/>
                </a:solidFill>
                <a:latin typeface="Malgun Gothic"/>
              </a:rPr>
              <a:t>0곳)</a:t>
            </a:r>
          </a:p>
          <a:p>
            <a:pPr algn="ctr"/>
            <a:r>
              <a:rPr sz="850" dirty="0">
                <a:solidFill>
                  <a:srgbClr val="475569"/>
                </a:solidFill>
                <a:latin typeface="Malgun Gothic"/>
              </a:rPr>
              <a:t>AI </a:t>
            </a:r>
            <a:r>
              <a:rPr sz="850" dirty="0" err="1">
                <a:solidFill>
                  <a:srgbClr val="475569"/>
                </a:solidFill>
                <a:latin typeface="Malgun Gothic"/>
              </a:rPr>
              <a:t>설명</a:t>
            </a:r>
            <a:r>
              <a:rPr sz="850" dirty="0">
                <a:solidFill>
                  <a:srgbClr val="475569"/>
                </a:solidFill>
                <a:latin typeface="Malgun Gothic"/>
              </a:rPr>
              <a:t> · </a:t>
            </a:r>
            <a:r>
              <a:rPr sz="850" dirty="0" err="1">
                <a:solidFill>
                  <a:srgbClr val="475569"/>
                </a:solidFill>
                <a:latin typeface="Malgun Gothic"/>
              </a:rPr>
              <a:t>이미지</a:t>
            </a:r>
            <a:r>
              <a:rPr sz="850" dirty="0">
                <a:solidFill>
                  <a:srgbClr val="475569"/>
                </a:solidFill>
                <a:latin typeface="Malgun Gothic"/>
              </a:rPr>
              <a:t> </a:t>
            </a:r>
            <a:r>
              <a:rPr sz="850" dirty="0" err="1">
                <a:solidFill>
                  <a:srgbClr val="475569"/>
                </a:solidFill>
                <a:latin typeface="Malgun Gothic"/>
              </a:rPr>
              <a:t>분석</a:t>
            </a:r>
            <a:endParaRPr sz="850" dirty="0">
              <a:solidFill>
                <a:srgbClr val="475569"/>
              </a:solidFill>
              <a:latin typeface="Malgun Gothic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7200" y="3950208"/>
            <a:ext cx="8229600" cy="3657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Malgun Gothic"/>
              </a:rPr>
              <a:t>본문 → S3      ·      메타·가공 → DynamoDB      ·      벡터 → Bedrock KB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616994"/>
            <a:ext cx="8229600" cy="2026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lang="ko-KR" altLang="en-US" sz="1150" b="1" dirty="0">
                <a:solidFill>
                  <a:srgbClr val="0D9488"/>
                </a:solidFill>
                <a:latin typeface="Malgun Gothic"/>
              </a:rPr>
              <a:t>시연 데이터 </a:t>
            </a:r>
            <a:r>
              <a:rPr sz="1150" b="1" dirty="0" err="1">
                <a:solidFill>
                  <a:srgbClr val="0D9488"/>
                </a:solidFill>
                <a:latin typeface="Malgun Gothic"/>
              </a:rPr>
              <a:t>강남</a:t>
            </a:r>
            <a:r>
              <a:rPr lang="en-US" sz="1150" b="1" dirty="0">
                <a:solidFill>
                  <a:srgbClr val="0D9488"/>
                </a:solidFill>
                <a:latin typeface="Malgun Gothic"/>
              </a:rPr>
              <a:t> </a:t>
            </a:r>
            <a:r>
              <a:rPr lang="ko-KR" altLang="en-US" sz="1150" b="1" dirty="0">
                <a:solidFill>
                  <a:srgbClr val="0D9488"/>
                </a:solidFill>
                <a:latin typeface="Malgun Gothic"/>
              </a:rPr>
              <a:t>한정</a:t>
            </a:r>
            <a:r>
              <a:rPr sz="1150" b="1" dirty="0">
                <a:solidFill>
                  <a:srgbClr val="0D9488"/>
                </a:solidFill>
                <a:latin typeface="Malgun Gothic"/>
              </a:rPr>
              <a:t> 3,098곳 </a:t>
            </a:r>
            <a:r>
              <a:rPr sz="1150" b="1" dirty="0" err="1">
                <a:solidFill>
                  <a:srgbClr val="0D9488"/>
                </a:solidFill>
                <a:latin typeface="Malgun Gothic"/>
              </a:rPr>
              <a:t>분류·KB</a:t>
            </a:r>
            <a:r>
              <a:rPr sz="1150" b="1" dirty="0">
                <a:solidFill>
                  <a:srgbClr val="0D9488"/>
                </a:solidFill>
                <a:latin typeface="Malgun Gothic"/>
              </a:rPr>
              <a:t> </a:t>
            </a:r>
            <a:r>
              <a:rPr sz="1150" b="1" dirty="0" err="1">
                <a:solidFill>
                  <a:srgbClr val="0D9488"/>
                </a:solidFill>
                <a:latin typeface="Malgun Gothic"/>
              </a:rPr>
              <a:t>적재</a:t>
            </a:r>
            <a:r>
              <a:rPr sz="1150" b="1" dirty="0">
                <a:solidFill>
                  <a:srgbClr val="0D9488"/>
                </a:solidFill>
                <a:latin typeface="Malgun Gothic"/>
              </a:rPr>
              <a:t> </a:t>
            </a:r>
            <a:r>
              <a:rPr sz="1150" b="1" dirty="0" err="1">
                <a:solidFill>
                  <a:srgbClr val="0D9488"/>
                </a:solidFill>
                <a:latin typeface="Malgun Gothic"/>
              </a:rPr>
              <a:t>완료</a:t>
            </a:r>
            <a:r>
              <a:rPr lang="en-US" sz="1150" b="1" dirty="0">
                <a:solidFill>
                  <a:srgbClr val="0D9488"/>
                </a:solidFill>
                <a:latin typeface="Malgun Gothic"/>
              </a:rPr>
              <a:t>.</a:t>
            </a:r>
            <a:r>
              <a:rPr lang="ko-KR" altLang="en-US" sz="1150" b="1" dirty="0">
                <a:solidFill>
                  <a:srgbClr val="0D9488"/>
                </a:solidFill>
                <a:latin typeface="Malgun Gothic"/>
              </a:rPr>
              <a:t> </a:t>
            </a:r>
            <a:r>
              <a:rPr lang="en-US" altLang="ko-KR" sz="1150" b="1" dirty="0">
                <a:solidFill>
                  <a:srgbClr val="0D9488"/>
                </a:solidFill>
                <a:latin typeface="Malgun Gothic"/>
              </a:rPr>
              <a:t>AI </a:t>
            </a:r>
            <a:r>
              <a:rPr lang="ko-KR" altLang="en-US" sz="1150" b="1" dirty="0">
                <a:solidFill>
                  <a:srgbClr val="0D9488"/>
                </a:solidFill>
                <a:latin typeface="Malgun Gothic"/>
              </a:rPr>
              <a:t>설명 요약과 이미지 분석은 </a:t>
            </a:r>
            <a:r>
              <a:rPr lang="en-US" altLang="ko-KR" sz="1150" b="1" dirty="0">
                <a:solidFill>
                  <a:srgbClr val="0D9488"/>
                </a:solidFill>
                <a:latin typeface="Malgun Gothic"/>
              </a:rPr>
              <a:t>500 </a:t>
            </a:r>
            <a:r>
              <a:rPr lang="ko-KR" altLang="en-US" sz="1150" b="1" dirty="0">
                <a:solidFill>
                  <a:srgbClr val="0D9488"/>
                </a:solidFill>
                <a:latin typeface="Malgun Gothic"/>
              </a:rPr>
              <a:t>곳만</a:t>
            </a:r>
            <a:endParaRPr sz="1150" b="1" dirty="0">
              <a:solidFill>
                <a:srgbClr val="0D9488"/>
              </a:solidFill>
              <a:latin typeface="Malgun Gothic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찾는 방법은 세 가지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143000"/>
            <a:ext cx="2697480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02920" y="352044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자연어 검색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3913632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“사마귀” → ‘심상성 우췌’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병원까지 의미로 매칭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83280" y="1143000"/>
            <a:ext cx="2697480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3383280" y="352044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카테고리 탐색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383280" y="3913632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진료과 타일 그리드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63640" y="1143000"/>
            <a:ext cx="2697480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263640" y="352044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 내 근처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263640" y="3913632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 검색 + GPS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마커 ↔ 리스트 연동</a:t>
            </a:r>
            <a:endParaRPr lang="en-US" sz="1150" dirty="0"/>
          </a:p>
        </p:txBody>
      </p:sp>
      <p:pic>
        <p:nvPicPr>
          <p:cNvPr id="15" name="Picture 14" descr="slide20_n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6867" y="1143000"/>
            <a:ext cx="1289585" cy="2240280"/>
          </a:xfrm>
          <a:prstGeom prst="rect">
            <a:avLst/>
          </a:prstGeom>
        </p:spPr>
      </p:pic>
      <p:pic>
        <p:nvPicPr>
          <p:cNvPr id="16" name="Picture 15" descr="slide20_ca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0517" y="1143000"/>
            <a:ext cx="1303004" cy="2240280"/>
          </a:xfrm>
          <a:prstGeom prst="rect">
            <a:avLst/>
          </a:prstGeom>
        </p:spPr>
      </p:pic>
      <p:pic>
        <p:nvPicPr>
          <p:cNvPr id="17" name="Picture 16" descr="slide20_m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2570" y="1143000"/>
            <a:ext cx="1359618" cy="22402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4937760" cy="42062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669280" y="128016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병원이 어떤 곳인지,</a:t>
            </a:r>
            <a:endParaRPr lang="en-US" sz="20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</a:t>
            </a:r>
            <a:r>
              <a:rPr lang="en-US" sz="200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써줍니다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669280" y="292608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문장에 출처 배지 —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클릭하면 원본 근거 확인</a:t>
            </a:r>
            <a:endParaRPr lang="en-US" sz="1200" dirty="0"/>
          </a:p>
        </p:txBody>
      </p:sp>
      <p:pic>
        <p:nvPicPr>
          <p:cNvPr id="6" name="Picture 5" descr="slide18_compo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842" y="457200"/>
            <a:ext cx="4525914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8229600" cy="548640"/>
          </a:xfrm>
          <a:prstGeom prst="rect">
            <a:avLst/>
          </a:prstGeom>
          <a:noFill/>
        </p:spPr>
        <p:txBody>
          <a:bodyPr wrap="square" anchor="t" lIns="63500" rIns="63500" tIns="38100" bIns="38100">
            <a:spAutoFit/>
          </a:bodyPr>
          <a:lstStyle/>
          <a:p>
            <a:pPr algn="ctr">
              <a:spcAft>
                <a:spcPts val="200"/>
              </a:spcAft>
            </a:pPr>
            <a:r>
              <a:rPr sz="2300" b="1">
                <a:solidFill>
                  <a:srgbClr val="1E293B"/>
                </a:solidFill>
                <a:latin typeface="Malgun Gothic"/>
              </a:rPr>
              <a:t>코사인 단독으론 ‘주력’을 못 가립니다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8046720" cy="548640"/>
          </a:xfrm>
          <a:prstGeom prst="rect">
            <a:avLst/>
          </a:prstGeom>
          <a:noFill/>
        </p:spPr>
        <p:txBody>
          <a:bodyPr wrap="square" anchor="t" lIns="63500" rIns="63500" tIns="38100" bIns="38100">
            <a:spAutoFit/>
          </a:bodyPr>
          <a:lstStyle/>
          <a:p>
            <a:pPr algn="ctr">
              <a:spcAft>
                <a:spcPts val="200"/>
              </a:spcAft>
            </a:pPr>
            <a:r>
              <a:rPr sz="1250" b="0">
                <a:solidFill>
                  <a:srgbClr val="475569"/>
                </a:solidFill>
                <a:latin typeface="Malgun Gothic"/>
              </a:rPr>
              <a:t>임베딩 유사도는 ‘언급했나’만 안다 — 길이 정규화가 빈도를 씻어내 1번 vs 31번 언급이 비슷하게 찍히고, ‘이게 이 병원의 메인이냐’를 코사인은 모른다.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783080"/>
            <a:ext cx="7589520" cy="178308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tIns="76200" bIns="76200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D9488"/>
                </a:solidFill>
                <a:latin typeface="Malgun Gothic"/>
              </a:rPr>
              <a:t>주력 강도  =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1E293B"/>
                </a:solidFill>
                <a:latin typeface="Malgun Gothic"/>
              </a:rPr>
              <a:t>    max(청크 코사인)</a:t>
            </a:r>
            <a:r>
              <a:rPr sz="1100" b="0">
                <a:solidFill>
                  <a:srgbClr val="94A3B8"/>
                </a:solidFill>
                <a:latin typeface="Malgun Gothic"/>
              </a:rPr>
              <a:t>   — 의미 근접도 (기본점·게이트)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1E293B"/>
                </a:solidFill>
                <a:latin typeface="Malgun Gothic"/>
              </a:rPr>
              <a:t>  + W_PF · [쿼리 토픽 ∈ 주력]</a:t>
            </a:r>
            <a:r>
              <a:rPr sz="1100" b="0">
                <a:solidFill>
                  <a:srgbClr val="94A3B8"/>
                </a:solidFill>
                <a:latin typeface="Malgun Gothic"/>
              </a:rPr>
              <a:t>   — 주력으로 주장하나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1E293B"/>
                </a:solidFill>
                <a:latin typeface="Malgun Gothic"/>
              </a:rPr>
              <a:t>  + W_FREQ · log(언급 횟수)</a:t>
            </a:r>
            <a:r>
              <a:rPr sz="1100" b="0">
                <a:solidFill>
                  <a:srgbClr val="94A3B8"/>
                </a:solidFill>
                <a:latin typeface="Malgun Gothic"/>
              </a:rPr>
              <a:t>   — 얼마나 자주 언급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1E293B"/>
                </a:solidFill>
                <a:latin typeface="Malgun Gothic"/>
              </a:rPr>
              <a:t>  + W_CHUNK · log(매칭 청크 수)</a:t>
            </a:r>
            <a:r>
              <a:rPr sz="1100" b="0">
                <a:solidFill>
                  <a:srgbClr val="94A3B8"/>
                </a:solidFill>
                <a:latin typeface="Malgun Gothic"/>
              </a:rPr>
              <a:t>   — 여러 시그널·문단(사례 폭)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  <a:latin typeface="Malgun Gothic"/>
              </a:rPr>
              <a:t>기본값 W_PF=0.06 · W_FREQ=W_CHUNK=0.010 · RANK_MODE=cosine 으로 옛 동작 A/B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703320"/>
            <a:ext cx="8229600" cy="777240"/>
          </a:xfrm>
          <a:prstGeom prst="rect">
            <a:avLst/>
          </a:prstGeom>
          <a:noFill/>
        </p:spPr>
        <p:txBody>
          <a:bodyPr wrap="square" anchor="t" lIns="63500" rIns="63500" tIns="38100" bIns="38100">
            <a:spAutoFit/>
          </a:bodyPr>
          <a:lstStyle/>
          <a:p>
            <a:pPr algn="ctr">
              <a:spcAft>
                <a:spcPts val="200"/>
              </a:spcAft>
            </a:pPr>
            <a:r>
              <a:rPr sz="3400" b="1">
                <a:solidFill>
                  <a:srgbClr val="0D9488"/>
                </a:solidFill>
                <a:latin typeface="Malgun Gothic"/>
              </a:rPr>
              <a:t>1위 적중률  57% → 66%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498848"/>
            <a:ext cx="8229600" cy="502920"/>
          </a:xfrm>
          <a:prstGeom prst="rect">
            <a:avLst/>
          </a:prstGeom>
          <a:noFill/>
        </p:spPr>
        <p:txBody>
          <a:bodyPr wrap="square" anchor="t" lIns="63500" rIns="63500" tIns="38100" bIns="3810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94A3B8"/>
                </a:solidFill>
                <a:latin typeface="Malgun Gothic"/>
              </a:rPr>
              <a:t>P@1 0.571→0.655 · MRR 0.675→0.734 · 강남 84개 주력 토픽 전수 A/B (코사인 단독 → 주력 강도)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시점, LLM은 0번 돕니다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920240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0회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288036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호출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337560" y="1920240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200ms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337560" y="288036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응답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217920" y="1920240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$0.00003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217920" y="288036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1회 비용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977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비싼 LLM 작업은 전부 사전 처리 — 하루 10만 검색에도 월 1만원대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오분류를 막는 4가지 안전장치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도배 페널티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키워드 도배는 다른 시그널과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불일치 → 점수 강등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800600" y="14630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신뢰도 공개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4800600" y="196596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70% 미만은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“정보 부족” 정직 표기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31546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피드백 루프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548640" y="365760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👍👎 한 번 탭 →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누적 시 재분류 + 이력 공개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800600" y="31546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주체 명시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4800600" y="365760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“잘한다” ✗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“자기 사이트에 표시함” ○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772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한 번이, </a:t>
            </a:r>
            <a:r>
              <a:rPr lang="en-US" sz="360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r>
              <a:rPr lang="en-US" sz="36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됩니다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783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 신호  ×  날씨·계절·시간대  ×  성별·연령·BMI (opt-in)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5146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23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예) “비염 검색은 여름철 미세먼지 보통일 때 20대 남성에서 67% 집중”</a:t>
            </a:r>
            <a:endParaRPr lang="en-US" sz="2300" dirty="0"/>
          </a:p>
          <a:p>
            <a:pPr marL="0" indent="0" algn="ctr">
              <a:lnSpc>
                <a:spcPct val="130000"/>
              </a:lnSpc>
              <a:buNone/>
            </a:pP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457200" y="3977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키·몸무게 원본은 서버 미전송 — 브라우저에서 BMI 계산 후 범주만 저장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시간이 갈수록 따라잡기 어려운 해자</a:t>
            </a:r>
            <a:endParaRPr lang="en-US" sz="1600" dirty="0"/>
          </a:p>
        </p:txBody>
      </p:sp>
      <p:sp>
        <p:nvSpPr>
          <p:cNvPr id="7" name="TextBox 6"/>
          <p:cNvSpPr txBox="1"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B45309"/>
                </a:solidFill>
                <a:latin typeface="Malgun Gothic"/>
              </a:rPr>
              <a:t>다음 단계 비전 — 아직 수집 전 (가상 예시)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아직 못 하는 것, 그리고 다음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5087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못 하는 것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감기 같은 흔한 증상 — 사이트에 글이 적어</a:t>
            </a:r>
            <a:endParaRPr lang="en-US" sz="13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신호가 약함</a:t>
            </a:r>
            <a:endParaRPr lang="en-US" sz="1350" dirty="0"/>
          </a:p>
          <a:p>
            <a:pPr marL="0" indent="0">
              <a:lnSpc>
                <a:spcPct val="120000"/>
              </a:lnSpc>
              <a:buNone/>
            </a:pPr>
            <a:endParaRPr lang="en-US" sz="13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설명·Vision 분석은 비용 통제로 시연 약 500곳 한정 (전수는 룰 분류 3종 시그널)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846320" y="15087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846320" y="2011680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행동 데이터 = 5번째 시그널</a:t>
            </a:r>
            <a:endParaRPr lang="en-US" sz="13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검색·클릭·전환이 분류를 스스로 검증</a:t>
            </a:r>
            <a:endParaRPr lang="en-US" sz="1350" dirty="0"/>
          </a:p>
          <a:p>
            <a:pPr marL="0" indent="0">
              <a:lnSpc>
                <a:spcPct val="120000"/>
              </a:lnSpc>
              <a:buNone/>
            </a:pPr>
            <a:endParaRPr lang="en-US" sz="13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후기 확대 · 전국 7만 병원 (월 100만원 미만 운영)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4000" b="1" dirty="0" err="1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병원이</a:t>
            </a:r>
            <a:r>
              <a:rPr lang="en-US" sz="400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실제로 하는 일을</a:t>
            </a:r>
            <a:endParaRPr lang="en-US" sz="40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400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보여줍니다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clinic-focus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635240" y="3886200"/>
            <a:ext cx="1051560" cy="10515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726680" y="3886200"/>
            <a:ext cx="868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6C2D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6C2D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(데모)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917</Words>
  <Application>Microsoft Office PowerPoint</Application>
  <PresentationFormat>화면 슬라이드 쇼(16:9)</PresentationFormat>
  <Paragraphs>226</Paragraphs>
  <Slides>23</Slides>
  <Notes>22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26" baseType="lpstr">
      <vt:lpstr>Malgun Gothic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clinic-focus 발표</dc:title>
  <dc:subject>PptxGenJS Presentation</dc:subject>
  <dc:creator>PptxGenJS</dc:creator>
  <cp:lastModifiedBy>구 비</cp:lastModifiedBy>
  <cp:revision>2</cp:revision>
  <dcterms:created xsi:type="dcterms:W3CDTF">2026-06-04T11:08:59Z</dcterms:created>
  <dcterms:modified xsi:type="dcterms:W3CDTF">2026-06-04T15:27:27Z</dcterms:modified>
</cp:coreProperties>
</file>